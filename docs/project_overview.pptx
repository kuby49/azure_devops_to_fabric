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96" y="1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7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Azure DevOps to Fabric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80C0FF"/>
                </a:solidFill>
              </a:defRPr>
            </a:pPr>
            <a:r>
              <a:t>Engineering Analytics with Microsoft Fabric Medallion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AAAAAA"/>
                </a:solidFill>
              </a:defRPr>
            </a:pPr>
            <a:r>
              <a:t>Automated ingestion  •  Delta Lake  •  PySpark  •  Power BI ready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37160" rtlCol="0" anchor="ctr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Why This Project?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66666"/>
                </a:solidFill>
              </a:defRPr>
            </a:pPr>
            <a:r>
              <a:t>Bridging the gap between engineering data and business insights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53035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530352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847088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0392B"/>
                </a:solidFill>
              </a:defRPr>
            </a:pPr>
            <a:r>
              <a:t>The Challenge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51760"/>
            <a:ext cx="4937760" cy="1371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2743200"/>
            <a:ext cx="5084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•  Engineering data siloed in Azure DevOps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063240"/>
            <a:ext cx="5084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•  No cross-project visibility or trends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383280"/>
            <a:ext cx="5084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•  Manual reporting wastes engineer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703320"/>
            <a:ext cx="5084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•  Sprint velocity &amp; quality metrics scattered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023360"/>
            <a:ext cx="5084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•  Cannot correlate code activity with delivery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343400"/>
            <a:ext cx="5084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•  No historical analysis capability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737360"/>
            <a:ext cx="53035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0" y="1737360"/>
            <a:ext cx="5303520" cy="54864"/>
          </a:xfrm>
          <a:prstGeom prst="rect">
            <a:avLst/>
          </a:prstGeom>
          <a:solidFill>
            <a:srgbClr val="2D7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1847088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1945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7D2D"/>
                </a:solidFill>
              </a:defRPr>
            </a:pPr>
            <a:r>
              <a:t>Our Solution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2651760"/>
            <a:ext cx="4937760" cy="13716"/>
          </a:xfrm>
          <a:prstGeom prst="rect">
            <a:avLst/>
          </a:prstGeom>
          <a:solidFill>
            <a:srgbClr val="2D7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10528" y="2743200"/>
            <a:ext cx="5084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•  Automated daily ingestion from ADO REST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063240"/>
            <a:ext cx="5084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•  Medallion architecture (Bronze/Silver/Gold)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3383280"/>
            <a:ext cx="5084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•  Delta Lake for ACID transactions &amp; time travel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3703320"/>
            <a:ext cx="5084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•  Computed metrics: cycle time, velocity, 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4023360"/>
            <a:ext cx="5084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•  Power BI-ready dimensional 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4343400"/>
            <a:ext cx="5084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•  Reusable across any ADO organization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37160" rtlCol="0" anchor="ctr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Architecture — Medallion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66666"/>
                </a:solidFill>
              </a:defRPr>
            </a:pPr>
            <a:r>
              <a:t>Three-layer lakehouse architecture with automated orchestration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560319"/>
            <a:ext cx="1645920" cy="2553101"/>
          </a:xfrm>
          <a:prstGeom prst="roundRect">
            <a:avLst/>
          </a:prstGeom>
          <a:solidFill>
            <a:srgbClr val="002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Azure DevOps</a:t>
            </a:r>
            <a:br>
              <a:rPr dirty="0"/>
            </a:br>
            <a:r>
              <a:rPr dirty="0"/>
              <a:t>REST API</a:t>
            </a:r>
          </a:p>
          <a:p>
            <a:br>
              <a:rPr dirty="0"/>
            </a:br>
            <a:r>
              <a:rPr dirty="0"/>
              <a:t>Work Items</a:t>
            </a:r>
            <a:br>
              <a:rPr dirty="0"/>
            </a:br>
            <a:r>
              <a:rPr dirty="0"/>
              <a:t>Boards</a:t>
            </a:r>
            <a:br>
              <a:rPr dirty="0"/>
            </a:br>
            <a:r>
              <a:rPr dirty="0"/>
              <a:t>Sprints</a:t>
            </a:r>
            <a:br>
              <a:rPr dirty="0"/>
            </a:br>
            <a:r>
              <a:rPr dirty="0"/>
              <a:t>Repos</a:t>
            </a:r>
            <a:br>
              <a:rPr dirty="0"/>
            </a:br>
            <a:r>
              <a:rPr dirty="0"/>
              <a:t>Commits</a:t>
            </a:r>
            <a:br>
              <a:rPr dirty="0"/>
            </a:br>
            <a:r>
              <a:rPr dirty="0"/>
              <a:t>Pull Requests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103120" y="3291840"/>
            <a:ext cx="640080" cy="45720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926080" y="1737360"/>
            <a:ext cx="22860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926080" y="1737360"/>
            <a:ext cx="2286000" cy="54864"/>
          </a:xfrm>
          <a:prstGeom prst="rect">
            <a:avLst/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17520" y="18745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D7F32"/>
                </a:solidFill>
              </a:defRPr>
            </a:pPr>
            <a:r>
              <a:t>Bronze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2331720"/>
            <a:ext cx="1920240" cy="13716"/>
          </a:xfrm>
          <a:prstGeom prst="rect">
            <a:avLst/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35808" y="2423160"/>
            <a:ext cx="20665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•  Raw JSON preservation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35808" y="2743200"/>
            <a:ext cx="20665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•  Incremental ingestion (WIQL)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35808" y="3063240"/>
            <a:ext cx="20665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•  Watermark-based CDC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5808" y="3383280"/>
            <a:ext cx="20665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•  Full reload capability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5808" y="3703320"/>
            <a:ext cx="20665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•  10 Delta tables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5808" y="4023360"/>
            <a:ext cx="20665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•  PAT from Key Vault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394960" y="3291840"/>
            <a:ext cx="640080" cy="45720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217920" y="1737360"/>
            <a:ext cx="22860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1737360"/>
            <a:ext cx="2286000" cy="5486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9360" y="18745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0C0C0"/>
                </a:solidFill>
              </a:defRPr>
            </a:pPr>
            <a:r>
              <a:t>Silver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2331720"/>
            <a:ext cx="1920240" cy="13716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27648" y="2423160"/>
            <a:ext cx="20665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•  Schema-based JSON parsing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2743200"/>
            <a:ext cx="20665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•  Typed columns (from_json)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3063240"/>
            <a:ext cx="20665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•  Computed: cycle_time, 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3383280"/>
            <a:ext cx="20665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•  Work item hierarchy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7648" y="3703320"/>
            <a:ext cx="20665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•  Deduplication &amp; cleaning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7648" y="4023360"/>
            <a:ext cx="20665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•  10 Delta tables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686800" y="3291840"/>
            <a:ext cx="640080" cy="45720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509760" y="1737360"/>
            <a:ext cx="22860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509760" y="1737360"/>
            <a:ext cx="22860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01200" y="18745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D700"/>
                </a:solidFill>
              </a:defRPr>
            </a:pPr>
            <a:r>
              <a:t>Gold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92640" y="2331720"/>
            <a:ext cx="1920240" cy="137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619488" y="2423160"/>
            <a:ext cx="20665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•  Star schema (facts + dims)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19488" y="2743200"/>
            <a:ext cx="20665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•  7 fact tables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19488" y="3063240"/>
            <a:ext cx="20665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•  6 dimension tables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19488" y="3383280"/>
            <a:ext cx="20665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•  Sprint velocity metrics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19488" y="3703320"/>
            <a:ext cx="20665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•  Board flow analytics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19488" y="4023360"/>
            <a:ext cx="20665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•  Power BI optimized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4320" y="6126480"/>
            <a:ext cx="11612880" cy="50292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Fabric Pipeline  —  Daily Schedule (06:00 UTC)  •  High Concurrency Sessions  •  Parameterized (full_load)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37160" rtlCol="0" anchor="ctr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Gold Layer — Dimensional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66666"/>
                </a:solidFill>
              </a:defRPr>
            </a:pPr>
            <a:r>
              <a:t>7 fact tables + 6 dimension tables for comprehensive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8D4"/>
                </a:solidFill>
              </a:defRPr>
            </a:pPr>
            <a:r>
              <a:t>Fact Tables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920240"/>
            <a:ext cx="265176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2651760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78D4"/>
                </a:solidFill>
              </a:defRPr>
            </a:pPr>
            <a:r>
              <a:t>fact_work_items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231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All work items with</a:t>
            </a:r>
            <a:br/>
            <a:r>
              <a:t>state, points, cycle 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920240"/>
            <a:ext cx="265176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91840" y="1920240"/>
            <a:ext cx="2651760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83280" y="205740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78D4"/>
                </a:solidFill>
              </a:defRPr>
            </a:pPr>
            <a:r>
              <a:t>fact_sprint_metrics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4231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Velocity, completion rate,</a:t>
            </a:r>
            <a:br/>
            <a:r>
              <a:t>avg cycle time per sprint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920240"/>
            <a:ext cx="265176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26480" y="1920240"/>
            <a:ext cx="2651760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0" y="205740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78D4"/>
                </a:solidFill>
              </a:defRPr>
            </a:pPr>
            <a:r>
              <a:t>fact_sprint_backlog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4231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Sprint-level backlog</a:t>
            </a:r>
            <a:br/>
            <a:r>
              <a:t>snapshots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1920240"/>
            <a:ext cx="265176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961120" y="1920240"/>
            <a:ext cx="2651760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52560" y="205740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78D4"/>
                </a:solidFill>
              </a:defRPr>
            </a:pPr>
            <a:r>
              <a:t>fact_backlog_health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24231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Backlog aging &amp;</a:t>
            </a:r>
            <a:br/>
            <a:r>
              <a:t>health indicators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383280"/>
            <a:ext cx="265176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3383280"/>
            <a:ext cx="2651760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352044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78D4"/>
                </a:solidFill>
              </a:defRPr>
            </a:pPr>
            <a:r>
              <a:t>fact_commits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8862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Code commits with</a:t>
            </a:r>
            <a:br/>
            <a:r>
              <a:t>author &amp; repo context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91840" y="3383280"/>
            <a:ext cx="265176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291840" y="3383280"/>
            <a:ext cx="2651760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383280" y="352044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78D4"/>
                </a:solidFill>
              </a:defRPr>
            </a:pPr>
            <a:r>
              <a:t>fact_pull_requests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38862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PR lifecycle: create,</a:t>
            </a:r>
            <a:br/>
            <a:r>
              <a:t>review, merge duration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80" y="3383280"/>
            <a:ext cx="265176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126480" y="3383280"/>
            <a:ext cx="2651760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17920" y="352044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78D4"/>
                </a:solidFill>
              </a:defRPr>
            </a:pPr>
            <a:r>
              <a:t>fact_board_flow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38862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Kanban flow metrics</a:t>
            </a:r>
            <a:br/>
            <a:r>
              <a:t>&amp; column transitions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84632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D7D2D"/>
                </a:solidFill>
              </a:defRPr>
            </a:pPr>
            <a:r>
              <a:t>Dimension Tables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303520"/>
            <a:ext cx="17830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57200" y="5303520"/>
            <a:ext cx="1783080" cy="45720"/>
          </a:xfrm>
          <a:prstGeom prst="rect">
            <a:avLst/>
          </a:prstGeom>
          <a:solidFill>
            <a:srgbClr val="2D7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30352" y="544068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D7D2D"/>
                </a:solidFill>
              </a:defRPr>
            </a:pPr>
            <a:r>
              <a:t>dim_project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" y="5760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Project metadata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377440" y="5303520"/>
            <a:ext cx="17830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377440" y="5303520"/>
            <a:ext cx="1783080" cy="45720"/>
          </a:xfrm>
          <a:prstGeom prst="rect">
            <a:avLst/>
          </a:prstGeom>
          <a:solidFill>
            <a:srgbClr val="2D7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450592" y="544068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D7D2D"/>
                </a:solidFill>
              </a:defRPr>
            </a:pPr>
            <a:r>
              <a:t>dim_iteration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50592" y="5760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Sprint definitions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297680" y="5303520"/>
            <a:ext cx="17830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297680" y="5303520"/>
            <a:ext cx="1783080" cy="45720"/>
          </a:xfrm>
          <a:prstGeom prst="rect">
            <a:avLst/>
          </a:prstGeom>
          <a:solidFill>
            <a:srgbClr val="2D7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370832" y="544068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D7D2D"/>
                </a:solidFill>
              </a:defRPr>
            </a:pPr>
            <a:r>
              <a:t>dim_team_member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70832" y="5760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Team members &amp; roles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17920" y="5303520"/>
            <a:ext cx="17830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217920" y="5303520"/>
            <a:ext cx="1783080" cy="45720"/>
          </a:xfrm>
          <a:prstGeom prst="rect">
            <a:avLst/>
          </a:prstGeom>
          <a:solidFill>
            <a:srgbClr val="2D7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291072" y="544068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D7D2D"/>
                </a:solidFill>
              </a:defRPr>
            </a:pPr>
            <a:r>
              <a:t>dim_repository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91072" y="5760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Git repositories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38160" y="5303520"/>
            <a:ext cx="17830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8138160" y="5303520"/>
            <a:ext cx="1783080" cy="45720"/>
          </a:xfrm>
          <a:prstGeom prst="rect">
            <a:avLst/>
          </a:prstGeom>
          <a:solidFill>
            <a:srgbClr val="2D7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211312" y="544068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D7D2D"/>
                </a:solidFill>
              </a:defRPr>
            </a:pPr>
            <a:r>
              <a:t>dim_board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11312" y="5760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Board configurations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058400" y="5303520"/>
            <a:ext cx="17830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10058400" y="5303520"/>
            <a:ext cx="1783080" cy="45720"/>
          </a:xfrm>
          <a:prstGeom prst="rect">
            <a:avLst/>
          </a:prstGeom>
          <a:solidFill>
            <a:srgbClr val="2D7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0131552" y="544068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D7D2D"/>
                </a:solidFill>
              </a:defRPr>
            </a:pPr>
            <a:r>
              <a:t>dim_date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31552" y="5760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Calendar dimension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37160" rtlCol="0" anchor="ctr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Technology Stack &amp; Key Design Decisions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205740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205740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874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78D4"/>
                </a:solidFill>
              </a:defRPr>
            </a:pPr>
            <a:r>
              <a:t>Microsoft Fabric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240280"/>
            <a:ext cx="1691640" cy="1371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2331720"/>
            <a:ext cx="1837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•  Unified analytics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651760"/>
            <a:ext cx="1837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•  Lakehouse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971800"/>
            <a:ext cx="1837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•  Built-in Spark compute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291840"/>
            <a:ext cx="1837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•  SQL endpoints for BI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61488" y="1645920"/>
            <a:ext cx="205740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61488" y="1645920"/>
            <a:ext cx="2057400" cy="54864"/>
          </a:xfrm>
          <a:prstGeom prst="rect">
            <a:avLst/>
          </a:prstGeom>
          <a:solidFill>
            <a:srgbClr val="2D7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52928" y="1783080"/>
            <a:ext cx="1874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7D2D"/>
                </a:solidFill>
              </a:defRPr>
            </a:pPr>
            <a:r>
              <a:t>Delta Lake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2240280"/>
            <a:ext cx="1691640" cy="13716"/>
          </a:xfrm>
          <a:prstGeom prst="rect">
            <a:avLst/>
          </a:prstGeom>
          <a:solidFill>
            <a:srgbClr val="2D7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71216" y="2331720"/>
            <a:ext cx="1837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•  ACID transactions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71216" y="2651760"/>
            <a:ext cx="1837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•  Time travel &amp; versioning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71216" y="2971800"/>
            <a:ext cx="1837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•  Schema enforcement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71216" y="3291840"/>
            <a:ext cx="1837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•  MERGE for upserts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65776" y="1645920"/>
            <a:ext cx="205740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65776" y="1645920"/>
            <a:ext cx="2057400" cy="54864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57216" y="1783080"/>
            <a:ext cx="1874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6C00"/>
                </a:solidFill>
              </a:defRPr>
            </a:pPr>
            <a:r>
              <a:t>PySpark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48656" y="2240280"/>
            <a:ext cx="1691640" cy="13716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175504" y="2331720"/>
            <a:ext cx="1837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•  from_json() + StructType schemas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75504" y="2651760"/>
            <a:ext cx="1837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•  High concurrency sessions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75504" y="2971800"/>
            <a:ext cx="1837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•  Fully qualified table names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75504" y="3291840"/>
            <a:ext cx="1837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•  Defensive try/except guards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70064" y="1645920"/>
            <a:ext cx="205740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370064" y="1645920"/>
            <a:ext cx="2057400" cy="54864"/>
          </a:xfrm>
          <a:prstGeom prst="rect">
            <a:avLst/>
          </a:prstGeom>
          <a:solidFill>
            <a:srgbClr val="8B0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61504" y="1783080"/>
            <a:ext cx="1874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8B008B"/>
                </a:solidFill>
              </a:defRPr>
            </a:pPr>
            <a:r>
              <a:t>Security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52944" y="2240280"/>
            <a:ext cx="1691640" cy="13716"/>
          </a:xfrm>
          <a:prstGeom prst="rect">
            <a:avLst/>
          </a:prstGeom>
          <a:solidFill>
            <a:srgbClr val="8B0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479792" y="2331720"/>
            <a:ext cx="1837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•  ADO PAT in Azure Key Vault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9792" y="2651760"/>
            <a:ext cx="1837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•  Fabric KV connection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2971800"/>
            <a:ext cx="1837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•  mssparkutils.credentials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79792" y="3291840"/>
            <a:ext cx="1837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•  No secrets in code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74352" y="1645920"/>
            <a:ext cx="205740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674352" y="1645920"/>
            <a:ext cx="2057400" cy="54864"/>
          </a:xfrm>
          <a:prstGeom prst="rect">
            <a:avLst/>
          </a:prstGeom>
          <a:solidFill>
            <a:srgbClr val="5B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765792" y="1783080"/>
            <a:ext cx="1874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5B5B5B"/>
                </a:solidFill>
              </a:defRPr>
            </a:pPr>
            <a:r>
              <a:t>Automation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857232" y="2240280"/>
            <a:ext cx="1691640" cy="13716"/>
          </a:xfrm>
          <a:prstGeom prst="rect">
            <a:avLst/>
          </a:prstGeom>
          <a:solidFill>
            <a:srgbClr val="5B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784080" y="2331720"/>
            <a:ext cx="1837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•  Daily scheduled pipeline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84080" y="2651760"/>
            <a:ext cx="1837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•  Incremental CDC ingestion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84080" y="2971800"/>
            <a:ext cx="1837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•  Parameterized full_load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84080" y="3291840"/>
            <a:ext cx="1837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•  API-based deployment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37160" rtlCol="0" anchor="ctr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Pipeline Execution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66666"/>
                </a:solidFill>
              </a:defRPr>
            </a:pPr>
            <a:r>
              <a:t>Three stages with parallel notebooks within each layer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347472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D7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3474720" cy="640080"/>
          </a:xfrm>
          <a:prstGeom prst="rect">
            <a:avLst/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Stage 1: Bronze — Ingest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51760"/>
            <a:ext cx="2926080" cy="640080"/>
          </a:xfrm>
          <a:prstGeom prst="round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333333"/>
                </a:solidFill>
              </a:defRPr>
            </a:pPr>
            <a:r>
              <a:t>01_Ingest_WorkItems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74720"/>
            <a:ext cx="2926080" cy="640080"/>
          </a:xfrm>
          <a:prstGeom prst="round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333333"/>
                </a:solidFill>
              </a:defRPr>
            </a:pPr>
            <a:r>
              <a:t>02_Ingest_Boards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97680"/>
            <a:ext cx="2926080" cy="640080"/>
          </a:xfrm>
          <a:prstGeom prst="round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333333"/>
                </a:solidFill>
              </a:defRPr>
            </a:pPr>
            <a:r>
              <a:t>03_Ingest_Repos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3035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666666"/>
                </a:solidFill>
              </a:defRPr>
            </a:pPr>
            <a:r>
              <a:t>Parallel ingestion from</a:t>
            </a:r>
            <a:br/>
            <a:r>
              <a:t>ADO REST API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14800" y="3474720"/>
            <a:ext cx="457200" cy="36576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297680" y="1737360"/>
            <a:ext cx="347472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97680" y="1737360"/>
            <a:ext cx="3474720" cy="640080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Stage 2: Silver — Transform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2651760"/>
            <a:ext cx="2926080" cy="640080"/>
          </a:xfrm>
          <a:prstGeom prst="round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333333"/>
                </a:solidFill>
              </a:defRPr>
            </a:pPr>
            <a:r>
              <a:t>04_Transform_WorkItems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3474720"/>
            <a:ext cx="2926080" cy="640080"/>
          </a:xfrm>
          <a:prstGeom prst="round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333333"/>
                </a:solidFill>
              </a:defRPr>
            </a:pPr>
            <a:r>
              <a:t>05_Transform_Boards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4297680"/>
            <a:ext cx="2926080" cy="640080"/>
          </a:xfrm>
          <a:prstGeom prst="round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333333"/>
                </a:solidFill>
              </a:defRPr>
            </a:pPr>
            <a:r>
              <a:t>06_Transform_Repos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53035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666666"/>
                </a:solidFill>
              </a:defRPr>
            </a:pPr>
            <a:r>
              <a:t>Schema parsing, typing,</a:t>
            </a:r>
            <a:br/>
            <a:r>
              <a:t>derived columns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955280" y="3474720"/>
            <a:ext cx="457200" cy="36576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138160" y="1737360"/>
            <a:ext cx="347472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38160" y="1737360"/>
            <a:ext cx="3474720" cy="6400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600" b="1">
                <a:solidFill>
                  <a:srgbClr val="002750"/>
                </a:solidFill>
              </a:defRPr>
            </a:pPr>
            <a:r>
              <a:t>Stage 3: Gold — Build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0" y="2651760"/>
            <a:ext cx="2926080" cy="640080"/>
          </a:xfrm>
          <a:prstGeom prst="round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333333"/>
                </a:solidFill>
              </a:defRPr>
            </a:pPr>
            <a:r>
              <a:t>07_Build_Facts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0" y="3474720"/>
            <a:ext cx="2926080" cy="640080"/>
          </a:xfrm>
          <a:prstGeom prst="round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333333"/>
                </a:solidFill>
              </a:defRPr>
            </a:pPr>
            <a:r>
              <a:t>08_Build_Dimensions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53035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666666"/>
                </a:solidFill>
              </a:defRPr>
            </a:pPr>
            <a:r>
              <a:t>Star schema facts</a:t>
            </a:r>
            <a:br/>
            <a:r>
              <a:t>&amp; dimensions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6126480"/>
            <a:ext cx="11247120" cy="50292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~7.5 min full load  •  High Concurrency Sessions  •  Incremental by default  •  full_load parameter for resets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37160" rtlCol="0" anchor="ctr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Current Results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D7D2D"/>
                </a:solidFill>
              </a:defRPr>
            </a:pPr>
            <a:r>
              <a:t>What We Have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10 Bronze tables — raw ADO data (work items, boards, repos, sprints)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10 Silver tables — cleaned, typed, with computed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13 Gold tables — star schema (7 facts + 6 dimensions)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546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Daily automated pipeline — ~7.5 min full 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661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Parameterized pipeline — incremental or full reload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776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SQL endpoints — query Gold tables directly from Power BI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891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Secure — PAT in Key Vault, no secrets in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9377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8D4"/>
                </a:solidFill>
              </a:defRPr>
            </a:pPr>
            <a:r>
              <a:t>Potential Next Steps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44068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→  Add Pipelines (CI/CD) data ingestion — build success rates, deploy frequency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788152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→  Add Test Plans data — test coverage, pass rates, quality trends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135624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→  Build Power BI report with pre-built DAX measures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83096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→  Add anomaly detection &amp; alerting on key metrics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760</Words>
  <Application>Microsoft Office PowerPoint</Application>
  <PresentationFormat>Widescreen</PresentationFormat>
  <Paragraphs>134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Imre Ruskal</cp:lastModifiedBy>
  <cp:revision>2</cp:revision>
  <dcterms:created xsi:type="dcterms:W3CDTF">2013-01-27T09:14:16Z</dcterms:created>
  <dcterms:modified xsi:type="dcterms:W3CDTF">2026-05-11T11:16:21Z</dcterms:modified>
  <cp:category/>
</cp:coreProperties>
</file>